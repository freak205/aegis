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cfbfd88f1b4f5c" /><Relationship Type="http://schemas.openxmlformats.org/officeDocument/2006/relationships/extended-properties" Target="/docProps/app.xml" Id="R466090222d814bd7" /><Relationship Type="http://schemas.openxmlformats.org/officeDocument/2006/relationships/officeDocument" Target="/ppt/presentation.xml" Id="Rcb17d34160784f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7c1713bbf2493a"/>
  </p:sldMasterIdLst>
  <p:notesMasterIdLst>
    <p:notesMasterId xmlns:r="http://schemas.openxmlformats.org/officeDocument/2006/relationships" r:id="R87e5685ed3044f24"/>
  </p:notesMasterIdLst>
  <p:sldIdLst>
    <p:sldId xmlns:r="http://schemas.openxmlformats.org/officeDocument/2006/relationships" id="256" r:id="Ra0e145559545464d"/>
    <p:sldId xmlns:r="http://schemas.openxmlformats.org/officeDocument/2006/relationships" id="257" r:id="R4405b654c3014fa4"/>
    <p:sldId xmlns:r="http://schemas.openxmlformats.org/officeDocument/2006/relationships" id="258" r:id="R3802c17e7ecc4b39"/>
    <p:sldId xmlns:r="http://schemas.openxmlformats.org/officeDocument/2006/relationships" id="259" r:id="Ra100e6e9ac484a64"/>
    <p:sldId xmlns:r="http://schemas.openxmlformats.org/officeDocument/2006/relationships" id="260" r:id="R135ded8acae54d14"/>
    <p:sldId xmlns:r="http://schemas.openxmlformats.org/officeDocument/2006/relationships" id="261" r:id="R524f80f5086848d1"/>
    <p:sldId xmlns:r="http://schemas.openxmlformats.org/officeDocument/2006/relationships" id="262" r:id="R4c79ee4e424a4577"/>
    <p:sldId xmlns:r="http://schemas.openxmlformats.org/officeDocument/2006/relationships" id="263" r:id="R0e5954868232474a"/>
    <p:sldId xmlns:r="http://schemas.openxmlformats.org/officeDocument/2006/relationships" id="264" r:id="R1f1669c727824b97"/>
    <p:sldId xmlns:r="http://schemas.openxmlformats.org/officeDocument/2006/relationships" id="265" r:id="R3c0e28dd606140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33931cd35847d3" /><Relationship Type="http://schemas.openxmlformats.org/officeDocument/2006/relationships/slideMaster" Target="/ppt/slideMasters/slideMaster1.xml" Id="R9e7c1713bbf2493a" /><Relationship Type="http://schemas.openxmlformats.org/officeDocument/2006/relationships/notesMaster" Target="/ppt/notesMasters/notesMaster1.xml" Id="R87e5685ed3044f24" /><Relationship Type="http://schemas.openxmlformats.org/officeDocument/2006/relationships/presProps" Target="/ppt/presProps.xml" Id="Ra9464d6bf02c4c9c" /><Relationship Type="http://schemas.openxmlformats.org/officeDocument/2006/relationships/tableStyles" Target="/ppt/tableStyles.xml" Id="Rf0533d0177914eeb" /><Relationship Type="http://schemas.openxmlformats.org/officeDocument/2006/relationships/slide" Target="/ppt/slides/slide1.xml" Id="Ra0e145559545464d" /><Relationship Type="http://schemas.openxmlformats.org/officeDocument/2006/relationships/slide" Target="/ppt/slides/slide2.xml" Id="R4405b654c3014fa4" /><Relationship Type="http://schemas.openxmlformats.org/officeDocument/2006/relationships/slide" Target="/ppt/slides/slide3.xml" Id="R3802c17e7ecc4b39" /><Relationship Type="http://schemas.openxmlformats.org/officeDocument/2006/relationships/slide" Target="/ppt/slides/slide4.xml" Id="Ra100e6e9ac484a64" /><Relationship Type="http://schemas.openxmlformats.org/officeDocument/2006/relationships/slide" Target="/ppt/slides/slide5.xml" Id="R135ded8acae54d14" /><Relationship Type="http://schemas.openxmlformats.org/officeDocument/2006/relationships/slide" Target="/ppt/slides/slide6.xml" Id="R524f80f5086848d1" /><Relationship Type="http://schemas.openxmlformats.org/officeDocument/2006/relationships/slide" Target="/ppt/slides/slide7.xml" Id="R4c79ee4e424a4577" /><Relationship Type="http://schemas.openxmlformats.org/officeDocument/2006/relationships/slide" Target="/ppt/slides/slide8.xml" Id="R0e5954868232474a" /><Relationship Type="http://schemas.openxmlformats.org/officeDocument/2006/relationships/slide" Target="/ppt/slides/slide9.xml" Id="R1f1669c727824b97" /><Relationship Type="http://schemas.openxmlformats.org/officeDocument/2006/relationships/slide" Target="/ppt/slides/slide10.xml" Id="R3c0e28dd606140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df92c2a5a64e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29262827b74aa8" /><Relationship Type="http://schemas.openxmlformats.org/officeDocument/2006/relationships/notesMaster" Target="/ppt/notesMasters/notesMaster1.xml" Id="Rb3c9aa72722a4e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3b3dc9aa324c3e" /><Relationship Type="http://schemas.openxmlformats.org/officeDocument/2006/relationships/notesMaster" Target="/ppt/notesMasters/notesMaster1.xml" Id="R2c814931021c44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247d38950249f1" /><Relationship Type="http://schemas.openxmlformats.org/officeDocument/2006/relationships/notesMaster" Target="/ppt/notesMasters/notesMaster1.xml" Id="R85f247384f7d41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08a5f086d44245" /><Relationship Type="http://schemas.openxmlformats.org/officeDocument/2006/relationships/notesMaster" Target="/ppt/notesMasters/notesMaster1.xml" Id="R1fb617a4f68e4e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a8d0cf25d6438a" /><Relationship Type="http://schemas.openxmlformats.org/officeDocument/2006/relationships/notesMaster" Target="/ppt/notesMasters/notesMaster1.xml" Id="R9dfeaf10fa7b42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66d58b043549fc" /><Relationship Type="http://schemas.openxmlformats.org/officeDocument/2006/relationships/notesMaster" Target="/ppt/notesMasters/notesMaster1.xml" Id="Rd986186ee2974c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6b95c783f6460f" /><Relationship Type="http://schemas.openxmlformats.org/officeDocument/2006/relationships/notesMaster" Target="/ppt/notesMasters/notesMaster1.xml" Id="R98853b5ad4bd47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0952ead3164782" /><Relationship Type="http://schemas.openxmlformats.org/officeDocument/2006/relationships/notesMaster" Target="/ppt/notesMasters/notesMaster1.xml" Id="Rc6d62b2d6b874c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9e3cad4b1b4c73" /><Relationship Type="http://schemas.openxmlformats.org/officeDocument/2006/relationships/notesMaster" Target="/ppt/notesMasters/notesMaster1.xml" Id="Rb9881e0fcc084a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0a0f8449a748a1" /><Relationship Type="http://schemas.openxmlformats.org/officeDocument/2006/relationships/notesMaster" Target="/ppt/notesMasters/notesMaster1.xml" Id="Re0609f781a7041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one sentence: Most AI support projects stop at a chatbot. Aegis proves its evidence, takes approved action, protects enterprise data, and knows when a human must take 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OpenAI-generated Aegis social card; project asset public/og.png.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an enterprise systems problem, not a chat-interface problem. This establishes why retrieval, authorization, safety and evaluation all belong in the capstone.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Aegis selection prototype; synthetic product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Aegis uses agentic behavior only where it adds value; predictable retrieval remains the default for ordinary support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Aegis selection prototype; synthetic product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the live product after this slide. Show the conversation, exact citations and answer-intelligence panel. Do not discuss the technology stack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Aegis selection prototype; synthetic product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four distinct trust signals: groundedness score, reasoning trace, exact evidence and latency. Explain that insufficient evidence triggers refusal or escalation.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Aegis selection prototype; synthetic product data.</a:t>
            </a:r>
          </a:p>
          <a:p xmlns:a="http://schemas.openxmlformats.org/drawingml/2006/main">
            <a:r>
              <a:t>- LangChain RAG evaluation concepts: https://docs.langchain.com/langsmith/evaluate-rag-tutorial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the live product, select Approve action, then open Live conversations. Show the AI handoff brief, urgency, sentiment, evidence and recommended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Aegis selection prototype; synthetic product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Trust &amp; Security. Read only the first fragment of the malicious prompt, then focus on the three outcomes: quarantine, data protection and an inspectable audit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Aegis selection prototype; synthetic product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transparent: these are illustrative selection-prototype values. The capstone contribution is the reproducible evaluation pipeline and measured comparison across standard, multilingual, conflicting, unanswerable and adversarial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Aegis selection prototype benchmark visualization; synthetic values, not production results.</a:t>
            </a:r>
          </a:p>
          <a:p xmlns:a="http://schemas.openxmlformats.org/drawingml/2006/main">
            <a:r>
              <a:t>- LangChain RAG evaluation concepts: https://docs.langchain.com/langsmith/evaluate-rag-tutorial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Commit to the four-week execution plan. Clarify that tonight’s deliverable is the selection-ready product experience, demo narrative and architecture foundation—not a claim of overnight production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Aegis selection prototype; synthetic product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requesting the project directly, then move into the live demo. Do not end on a thank-you slide. The product itself is the final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Aegis selection prototype; synthetic product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d861e8df441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a77f72e5054f2c" /><Relationship Type="http://schemas.openxmlformats.org/officeDocument/2006/relationships/slideLayout" Target="/ppt/slideLayouts/slideLayout1.xml" Id="Rdd73f8f247ef49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73f8f247ef49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b60162b1547c6" /><Relationship Type="http://schemas.openxmlformats.org/officeDocument/2006/relationships/image" Target="/ppt/media/image.png" Id="R9ed17175f7294d39" /><Relationship Type="http://schemas.openxmlformats.org/officeDocument/2006/relationships/notesSlide" Target="/ppt/notesSlides/notesSlide1.xml" Id="R0cd1583c123244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bfdd443fd4d74" /><Relationship Type="http://schemas.openxmlformats.org/officeDocument/2006/relationships/notesSlide" Target="/ppt/notesSlides/notesSlide2.xml" Id="R0e23bfdf70f646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361894e4d4ba8" /><Relationship Type="http://schemas.openxmlformats.org/officeDocument/2006/relationships/notesSlide" Target="/ppt/notesSlides/notesSlide3.xml" Id="Rd6748be4318243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fc9e8023241d0" /><Relationship Type="http://schemas.openxmlformats.org/officeDocument/2006/relationships/notesSlide" Target="/ppt/notesSlides/notesSlide4.xml" Id="Rac677af9d9bd4b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ff469b3034837" /><Relationship Type="http://schemas.openxmlformats.org/officeDocument/2006/relationships/notesSlide" Target="/ppt/notesSlides/notesSlide5.xml" Id="R6a9a3173392a4a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d1187a26948bb" /><Relationship Type="http://schemas.openxmlformats.org/officeDocument/2006/relationships/notesSlide" Target="/ppt/notesSlides/notesSlide6.xml" Id="R917632f760b447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11d4cdf604413" /><Relationship Type="http://schemas.openxmlformats.org/officeDocument/2006/relationships/notesSlide" Target="/ppt/notesSlides/notesSlide7.xml" Id="Rc9ac84a14dc144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e81847fdb4afc" /><Relationship Type="http://schemas.openxmlformats.org/officeDocument/2006/relationships/chart" Target="/ppt/slides/charts/chart1.xml" Id="R7ceca3081e6c4fb9" /><Relationship Type="http://schemas.openxmlformats.org/officeDocument/2006/relationships/notesSlide" Target="/ppt/notesSlides/notesSlide8.xml" Id="Re2a16cc31deb4d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d592627734fe3" /><Relationship Type="http://schemas.openxmlformats.org/officeDocument/2006/relationships/notesSlide" Target="/ppt/notesSlides/notesSlide9.xml" Id="Re1e42b710b0a4b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4f725089d4b8d" /><Relationship Type="http://schemas.openxmlformats.org/officeDocument/2006/relationships/notesSlide" Target="/ppt/notesSlides/notesSlide10.xml" Id="Raf0d62af859c476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Aegis advanced RAG</c:v>
          </c:tx>
          <c:spPr>
            <a:solidFill xmlns:a="http://schemas.openxmlformats.org/drawingml/2006/main">
              <a:srgbClr val="6847E8"/>
            </a:solidFill>
          </c:spPr>
          <c:cat>
            <c:strLit>
              <c:ptCount val="5"/>
              <c:pt idx="0">
                <c:v>Correct answers</c:v>
              </c:pt>
              <c:pt idx="1">
                <c:v>Grounding</c:v>
              </c:pt>
              <c:pt idx="2">
                <c:v>Citations</c:v>
              </c:pt>
              <c:pt idx="3">
                <c:v>Ambiguity</c:v>
              </c:pt>
              <c:pt idx="4">
                <c:v>Attack rejection</c:v>
              </c:pt>
            </c:strLit>
          </c:cat>
          <c:val>
            <c:numLit>
              <c:formatCode>General</c:formatCode>
              <c:ptCount val="5"/>
              <c:pt idx="0">
                <c:v>97</c:v>
              </c:pt>
              <c:pt idx="1">
                <c:v>99</c:v>
              </c:pt>
              <c:pt idx="2">
                <c:v>98</c:v>
              </c:pt>
              <c:pt idx="3">
                <c:v>93</c:v>
              </c:pt>
              <c:pt idx="4">
                <c:v>100</c:v>
              </c:pt>
            </c:numLit>
          </c:val>
        </c:ser>
        <c:ser>
          <c:idx val="1"/>
          <c:order val="1"/>
          <c:tx>
            <c:v>Basic RAG</c:v>
          </c:tx>
          <c:spPr>
            <a:solidFill xmlns:a="http://schemas.openxmlformats.org/drawingml/2006/main">
              <a:srgbClr val="D7D2DC"/>
            </a:solidFill>
          </c:spPr>
          <c:cat>
            <c:strLit>
              <c:ptCount val="5"/>
              <c:pt idx="0">
                <c:v>Correct answers</c:v>
              </c:pt>
              <c:pt idx="1">
                <c:v>Grounding</c:v>
              </c:pt>
              <c:pt idx="2">
                <c:v>Citations</c:v>
              </c:pt>
              <c:pt idx="3">
                <c:v>Ambiguity</c:v>
              </c:pt>
              <c:pt idx="4">
                <c:v>Attack rejection</c:v>
              </c:pt>
            </c:strLit>
          </c:cat>
          <c:val>
            <c:numLit>
              <c:formatCode>General</c:formatCode>
              <c:ptCount val="5"/>
              <c:pt idx="0">
                <c:v>71</c:v>
              </c:pt>
              <c:pt idx="1">
                <c:v>68</c:v>
              </c:pt>
              <c:pt idx="2">
                <c:v>54</c:v>
              </c:pt>
              <c:pt idx="3">
                <c:v>41</c:v>
              </c:pt>
              <c:pt idx="4">
                <c:v>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5111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1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8A2AF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E1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5111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6F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726C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6F9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17175f7294d39"/>
          <a:srcRect xmlns:a="http://schemas.openxmlformats.org/drawingml/2006/main" l="3322" t="0" r="33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CA4BC-CFD0-4B9B-8FCF-AB64A094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90AA"/>
                </a:solidFill>
              </a:defRPr>
            </a:pPr>
            <a:r>
              <a:rPr sz="825" b="1">
                <a:solidFill>
                  <a:srgbClr val="9A90AA"/>
                </a:solidFill>
              </a:rPr>
              <a:t>CAPSTONE SELECTION · 2026</a:t>
            </a:r>
          </a:p>
        </p:txBody>
      </p:sp>
    </p:spTree>
    <p:extLst>
      <p:ext uri="{BB962C8B-B14F-4D97-AF65-F5344CB8AC3E}">
        <p14:creationId xmlns:p14="http://schemas.microsoft.com/office/powerpoint/2010/main" val="2015298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6BBF9-D622-4928-876F-E949521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A2AF"/>
                </a:solidFill>
              </a:defRPr>
            </a:pPr>
            <a:r>
              <a:rPr sz="825" b="1">
                <a:solidFill>
                  <a:srgbClr val="A8A2AF"/>
                </a:solidFill>
              </a:rPr>
              <a:t>AEGIS · CAPSTONE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E4E05-1180-4D56-BDFB-F8C9B7BC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A2AF"/>
                </a:solidFill>
              </a:defRPr>
            </a:pPr>
            <a:r>
              <a:rPr sz="825" b="1">
                <a:solidFill>
                  <a:srgbClr val="A8A2AF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4EA42-1C21-42F3-A969-3026DB0F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18486-B31D-42A2-BF8D-195BB505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47E8"/>
                </a:solidFill>
              </a:defRPr>
            </a:pPr>
            <a:r>
              <a:rPr sz="900" b="1">
                <a:solidFill>
                  <a:srgbClr val="6847E8"/>
                </a:solidFill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DDD6C-7493-4161-9A87-D9667DB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5111E"/>
                </a:solidFill>
              </a:defRPr>
            </a:pPr>
            <a:r>
              <a:rPr sz="3525" b="1">
                <a:solidFill>
                  <a:srgbClr val="15111E"/>
                </a:solidFill>
              </a:rPr>
              <a:t>A chatbot is the smallest part of enterprise support.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9F235-02F0-4207-97F4-A0F49851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26C7A"/>
                </a:solidFill>
              </a:defRPr>
            </a:pPr>
            <a:r>
              <a:rPr sz="1575" b="0">
                <a:solidFill>
                  <a:srgbClr val="726C7A"/>
                </a:solidFill>
              </a:rPr>
              <a:t>The real challenge is making answers trustworthy enough to change an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1C31E-ECA3-4BCA-B70B-7A15A06A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47E8"/>
                </a:solidFill>
              </a:defRPr>
            </a:pPr>
            <a:r>
              <a:rPr sz="975" b="1">
                <a:solidFill>
                  <a:srgbClr val="6847E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D5056-DBBD-4DC6-BA0E-E8D3773D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860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11E"/>
                </a:solidFill>
              </a:defRPr>
            </a:pPr>
            <a:r>
              <a:rPr sz="1800" b="1">
                <a:solidFill>
                  <a:srgbClr val="15111E"/>
                </a:solidFill>
              </a:rPr>
              <a:t>KNOW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51E98-A42D-404E-BB95-8F49A4D7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146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6C7A"/>
                </a:solidFill>
              </a:defRPr>
            </a:pPr>
            <a:r>
              <a:rPr sz="1350" b="0">
                <a:solidFill>
                  <a:srgbClr val="726C7A"/>
                </a:solidFill>
              </a:rPr>
              <a:t>Find the current policy across thousands of changing 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572A5-DCB7-4093-8B61-81DBF143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591B7-EAB2-494A-9D91-959F88E0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47E8"/>
                </a:solidFill>
              </a:defRPr>
            </a:pPr>
            <a:r>
              <a:rPr sz="975" b="1">
                <a:solidFill>
                  <a:srgbClr val="6847E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AE39F-C92F-45DC-B06C-90F6CD1E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67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11E"/>
                </a:solidFill>
              </a:defRPr>
            </a:pPr>
            <a:r>
              <a:rPr sz="1800" b="1">
                <a:solidFill>
                  <a:srgbClr val="15111E"/>
                </a:solidFill>
              </a:rPr>
              <a:t>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2F2B1-1908-4EE5-974B-7A87D1F4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957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6C7A"/>
                </a:solidFill>
              </a:defRPr>
            </a:pPr>
            <a:r>
              <a:rPr sz="1350" b="0">
                <a:solidFill>
                  <a:srgbClr val="726C7A"/>
                </a:solidFill>
              </a:rPr>
              <a:t>Show exactly which evidence supports every customer-facing claim.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80572-B2BE-42F9-8A71-F23779F2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B520F-02EF-4597-8A10-2985AECB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47E8"/>
                </a:solidFill>
              </a:defRPr>
            </a:pPr>
            <a:r>
              <a:rPr sz="975" b="1">
                <a:solidFill>
                  <a:srgbClr val="6847E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9DC23-1FFF-4407-8529-85078680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481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11E"/>
                </a:solidFill>
              </a:defRPr>
            </a:pPr>
            <a:r>
              <a:rPr sz="1800" b="1">
                <a:solidFill>
                  <a:srgbClr val="15111E"/>
                </a:solidFill>
              </a:rPr>
              <a:t>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F8D3EC-D0C2-4665-BD68-F2CD4B08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767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6C7A"/>
                </a:solidFill>
              </a:defRPr>
            </a:pPr>
            <a:r>
              <a:rPr sz="1350" b="0">
                <a:solidFill>
                  <a:srgbClr val="726C7A"/>
                </a:solidFill>
              </a:rPr>
              <a:t>Complete a workflow without crossing an authorization boundary.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DC177-2323-487F-8923-72855CD0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7F660-326E-4A8B-AF36-20D3198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47E8"/>
                </a:solidFill>
              </a:defRPr>
            </a:pPr>
            <a:r>
              <a:rPr sz="975" b="1">
                <a:solidFill>
                  <a:srgbClr val="6847E8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50FB5-B552-4E43-9012-B4E572B0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29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11E"/>
                </a:solidFill>
              </a:defRPr>
            </a:pPr>
            <a:r>
              <a:rPr sz="1800" b="1">
                <a:solidFill>
                  <a:srgbClr val="15111E"/>
                </a:solidFill>
              </a:rPr>
              <a:t>LEARN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952E8-423D-4D60-B4AB-EC3040E2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578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6C7A"/>
                </a:solidFill>
              </a:defRPr>
            </a:pPr>
            <a:r>
              <a:rPr sz="1350" b="0">
                <a:solidFill>
                  <a:srgbClr val="726C7A"/>
                </a:solidFill>
              </a:rPr>
              <a:t>Measure failures and turn them into a stronger knowledge system.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03CE0-8F55-49C3-9F74-1D7275F6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B9D50-4291-41E0-8B90-79EF55FA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876550"/>
            <a:ext cx="57150" cy="2876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7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1205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A6E7A-EC64-48AB-9B22-DBFCFF91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829E"/>
                </a:solidFill>
              </a:defRPr>
            </a:pPr>
            <a:r>
              <a:rPr sz="825" b="1">
                <a:solidFill>
                  <a:srgbClr val="8C829E"/>
                </a:solidFill>
              </a:rPr>
              <a:t>AEGIS · CAPSTONE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699BC-64A4-4A7A-A2DE-493647C4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829E"/>
                </a:solidFill>
              </a:defRPr>
            </a:pPr>
            <a:r>
              <a:rPr sz="825" b="1">
                <a:solidFill>
                  <a:srgbClr val="8C829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7828C-6F14-4A30-B73D-A0B96155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E517A-B718-4C00-B266-0FFEA17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84F4"/>
                </a:solidFill>
              </a:defRPr>
            </a:pPr>
            <a:r>
              <a:rPr sz="900" b="1">
                <a:solidFill>
                  <a:srgbClr val="9C84F4"/>
                </a:solidFill>
              </a:rPr>
              <a:t>THE PRODUCT 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E32E7-7DA1-4823-8F21-6B208881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Aegis closes the resolution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1231A-89FF-478F-99B7-EC18CBA9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AFC5"/>
                </a:solidFill>
              </a:defRPr>
            </a:pPr>
            <a:r>
              <a:rPr sz="1575" b="0">
                <a:solidFill>
                  <a:srgbClr val="B8AFC5"/>
                </a:solidFill>
              </a:rPr>
              <a:t>One governed system moves from customer language to evidence, action and continuous improvement.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0517B-8975-488D-99F1-1E31F449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147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F536E"/>
                </a:solidFill>
              </a:defRPr>
            </a:pPr>
            <a:r>
              <a:rPr sz="2100" b="0">
                <a:solidFill>
                  <a:srgbClr val="5F536E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1C084-5610-4E98-9938-ECB76924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84F4"/>
                </a:solidFill>
              </a:defRPr>
            </a:pPr>
            <a:r>
              <a:rPr sz="900" b="1">
                <a:solidFill>
                  <a:srgbClr val="9C84F4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8A57E-D1AC-42EF-8D8B-4BB8AF13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207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35FE0-63D3-4531-8EC1-A09791D6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UNDERSTAND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D2CE8-021F-455B-8666-EC0AFE70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EB5C9"/>
                </a:solidFill>
              </a:defRPr>
            </a:pPr>
            <a:r>
              <a:rPr sz="1275" b="0">
                <a:solidFill>
                  <a:srgbClr val="BEB5C9"/>
                </a:solidFill>
              </a:rPr>
              <a:t>Classify intent, urgency, language and customer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102C4-B858-4770-B694-473E1547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147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F536E"/>
                </a:solidFill>
              </a:defRPr>
            </a:pPr>
            <a:r>
              <a:rPr sz="2100" b="0">
                <a:solidFill>
                  <a:srgbClr val="5F536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2A56D-6602-4163-B075-B2D4EC5E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84F4"/>
                </a:solidFill>
              </a:defRPr>
            </a:pPr>
            <a:r>
              <a:rPr sz="900" b="1">
                <a:solidFill>
                  <a:srgbClr val="9C84F4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54FC1-C473-4400-A8A5-3794EAAB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62325"/>
            <a:ext cx="207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DD446-762F-4ED3-9395-6757ED0A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E0BB9-5C05-446D-B6B1-3D26DEF4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148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EB5C9"/>
                </a:solidFill>
              </a:defRPr>
            </a:pPr>
            <a:r>
              <a:rPr sz="1275" b="0">
                <a:solidFill>
                  <a:srgbClr val="BEB5C9"/>
                </a:solidFill>
              </a:rPr>
              <a:t>Retrieve, rerank and cite active enterprise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F9333-CD08-4372-84B4-26837F66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147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F536E"/>
                </a:solidFill>
              </a:defRPr>
            </a:pPr>
            <a:r>
              <a:rPr sz="2100" b="0">
                <a:solidFill>
                  <a:srgbClr val="5F536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63B08-F153-4F38-BDB0-299CE6F0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84F4"/>
                </a:solidFill>
              </a:defRPr>
            </a:pPr>
            <a:r>
              <a:rPr sz="900" b="1">
                <a:solidFill>
                  <a:srgbClr val="9C84F4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ED3FF-C3D8-467C-A8AB-10509519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62325"/>
            <a:ext cx="207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FE489-7C88-4A57-99CB-6D22BFDF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B4142-75D4-4826-A56A-28C60C13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148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EB5C9"/>
                </a:solidFill>
              </a:defRPr>
            </a:pPr>
            <a:r>
              <a:rPr sz="1275" b="0">
                <a:solidFill>
                  <a:srgbClr val="BEB5C9"/>
                </a:solidFill>
              </a:rPr>
              <a:t>Use approved tools to resolve the customer’s real problem.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A38A1-6659-418D-AE13-8D868D54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48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84F4"/>
                </a:solidFill>
              </a:defRPr>
            </a:pPr>
            <a:r>
              <a:rPr sz="900" b="1">
                <a:solidFill>
                  <a:srgbClr val="9C84F4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57EBC-EA70-4231-9DB3-A272706D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62325"/>
            <a:ext cx="207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54A03-4CAA-4A32-BDC2-0452E6C5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19500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IMPROVE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B335E2-D552-4D49-98FD-DF367EFA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148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EB5C9"/>
                </a:solidFill>
              </a:defRPr>
            </a:pPr>
            <a:r>
              <a:rPr sz="1275" b="0">
                <a:solidFill>
                  <a:srgbClr val="BEB5C9"/>
                </a:solidFill>
              </a:rPr>
              <a:t>Evaluate outcomes and expose the next knowledge gap.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161986-ABEE-4C2B-BAC0-261E0B53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Not another answer box.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322610-7476-4EA2-9F62-432A1FB1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721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C84F4"/>
                </a:solidFill>
              </a:defRPr>
            </a:pPr>
            <a:r>
              <a:rPr sz="2025" b="1">
                <a:solidFill>
                  <a:srgbClr val="9C84F4"/>
                </a:solidFill>
              </a:rPr>
              <a:t>A complete support 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1753125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4723D3-0EE4-4BFE-8DFC-F2BD2267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A2AF"/>
                </a:solidFill>
              </a:defRPr>
            </a:pPr>
            <a:r>
              <a:rPr sz="825" b="1">
                <a:solidFill>
                  <a:srgbClr val="A8A2AF"/>
                </a:solidFill>
              </a:rPr>
              <a:t>AEGIS · CAPSTONE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045CD-1511-43B0-8DE5-F40ADD8E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A2AF"/>
                </a:solidFill>
              </a:defRPr>
            </a:pPr>
            <a:r>
              <a:rPr sz="825" b="1">
                <a:solidFill>
                  <a:srgbClr val="A8A2AF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505B6-C558-4413-B65D-0CBCF29A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9085B-379C-46AD-A2FE-53F2C183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47E8"/>
                </a:solidFill>
              </a:defRPr>
            </a:pPr>
            <a:r>
              <a:rPr sz="900" b="1">
                <a:solidFill>
                  <a:srgbClr val="6847E8"/>
                </a:solidFill>
              </a:rPr>
              <a:t>THE LIVE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3D3CB-0D45-41A7-99E7-C3E4668A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5111E"/>
                </a:solidFill>
              </a:defRPr>
            </a:pPr>
            <a:r>
              <a:rPr sz="3525" b="1">
                <a:solidFill>
                  <a:srgbClr val="15111E"/>
                </a:solidFill>
              </a:rPr>
              <a:t>A wrong answer can become a safety incident.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4D592-8838-43E1-B1EC-AC6B011C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26C7A"/>
                </a:solidFill>
              </a:defRPr>
            </a:pPr>
            <a:r>
              <a:rPr sz="1575" b="0">
                <a:solidFill>
                  <a:srgbClr val="726C7A"/>
                </a:solidFill>
              </a:rPr>
              <a:t>A swollen battery turns a routine support chat into a safety, policy and authorization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16EA0-D0E6-4A13-97A0-4183222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048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51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FC014-FC29-4048-8FAE-5EE9481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C84F4"/>
                </a:solidFill>
              </a:defRPr>
            </a:pPr>
            <a:r>
              <a:rPr sz="825" b="1">
                <a:solidFill>
                  <a:srgbClr val="9C84F4"/>
                </a:solidFill>
              </a:rPr>
              <a:t>PRIYA · NOVA X1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86777-09BB-4EDC-86FE-99139AE3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“My phone is overheating and the battery is swelling. Order AEG-48291. What should I do?”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A9224-227E-4EDE-B893-78421B6B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149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9FB6"/>
                </a:solidFill>
              </a:defRPr>
            </a:pPr>
            <a:r>
              <a:rPr sz="975" b="0">
                <a:solidFill>
                  <a:srgbClr val="A99FB6"/>
                </a:solidFill>
              </a:rPr>
              <a:t>Safety-critical · identity-linked · policy-dependent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A8CC9-A366-4248-9BAB-B99DFDF7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7C43C-A7F5-4F64-B517-E046D8C0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847E8"/>
                </a:solidFill>
              </a:defRPr>
            </a:pPr>
            <a:r>
              <a:rPr sz="900" b="1">
                <a:solidFill>
                  <a:srgbClr val="6847E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951ED-8EB0-4521-B72C-C3B158C2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384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11E"/>
                </a:solidFill>
              </a:defRPr>
            </a:pPr>
            <a:r>
              <a:rPr sz="1425" b="1">
                <a:solidFill>
                  <a:srgbClr val="15111E"/>
                </a:solidFill>
              </a:rPr>
              <a:t>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7E26F-067E-4836-88C9-55787A72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05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26C7A"/>
                </a:solidFill>
              </a:defRPr>
            </a:pPr>
            <a:r>
              <a:rPr sz="1125" b="0">
                <a:solidFill>
                  <a:srgbClr val="726C7A"/>
                </a:solidFill>
              </a:rPr>
              <a:t>Order and serial verified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4B29E-61D0-46C4-BA00-CF4304E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19D28-F391-49E7-A2C1-9A9F834E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847E8"/>
                </a:solidFill>
              </a:defRPr>
            </a:pPr>
            <a:r>
              <a:rPr sz="900" b="1">
                <a:solidFill>
                  <a:srgbClr val="6847E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03636-C82C-4BF7-AA0D-0FD3A0F0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337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11E"/>
                </a:solidFill>
              </a:defRPr>
            </a:pPr>
            <a:r>
              <a:rPr sz="1425" b="1">
                <a:solidFill>
                  <a:srgbClr val="15111E"/>
                </a:solidFill>
              </a:rPr>
              <a:t>Eligibility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00D026-9CD3-4183-9782-AEF4452A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004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26C7A"/>
                </a:solidFill>
              </a:defRPr>
            </a:pPr>
            <a:r>
              <a:rPr sz="1125" b="0">
                <a:solidFill>
                  <a:srgbClr val="726C7A"/>
                </a:solidFill>
              </a:rPr>
              <a:t>9 months into a 24-month safety program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400F7-E502-41A1-A5B9-421C14A3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339D3-BEC1-49AD-992B-F89ED3C3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847E8"/>
                </a:solidFill>
              </a:defRPr>
            </a:pPr>
            <a:r>
              <a:rPr sz="900" b="1">
                <a:solidFill>
                  <a:srgbClr val="6847E8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49D7A-F509-48FE-93FD-623C4005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291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11E"/>
                </a:solidFill>
              </a:defRPr>
            </a:pPr>
            <a:r>
              <a:rPr sz="1425" b="1">
                <a:solidFill>
                  <a:srgbClr val="15111E"/>
                </a:solidFill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A7B18-473D-4115-9693-0E674FB5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26C7A"/>
                </a:solidFill>
              </a:defRPr>
            </a:pPr>
            <a:r>
              <a:rPr sz="1125" b="0">
                <a:solidFill>
                  <a:srgbClr val="726C7A"/>
                </a:solidFill>
              </a:rPr>
              <a:t>Manual p.12 + warranty §4.2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F94A37-B734-491B-8062-8D1A728C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3395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D3D3C7-9C5B-4808-B18E-48F6DDC1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625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191222-38F3-4A65-AACA-155B9FAA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244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111E"/>
                </a:solidFill>
              </a:defRPr>
            </a:pPr>
            <a:r>
              <a:rPr sz="1425" b="1">
                <a:solidFill>
                  <a:srgbClr val="15111E"/>
                </a:solidFill>
              </a:rPr>
              <a:t>Resolution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12F198-7E89-40E5-9ABE-F4783B9A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91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26C7A"/>
                </a:solidFill>
              </a:defRPr>
            </a:pPr>
            <a:r>
              <a:rPr sz="1125" b="0">
                <a:solidFill>
                  <a:srgbClr val="726C7A"/>
                </a:solidFill>
              </a:rPr>
              <a:t>Priority replacement, explicit approval</a:t>
            </a:r>
          </a:p>
        </p:txBody>
      </p:sp>
    </p:spTree>
    <p:extLst>
      <p:ext uri="{BB962C8B-B14F-4D97-AF65-F5344CB8AC3E}">
        <p14:creationId xmlns:p14="http://schemas.microsoft.com/office/powerpoint/2010/main" val="21105373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B24830-9ADF-42AA-8A52-7341A8D7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A2AF"/>
                </a:solidFill>
              </a:defRPr>
            </a:pPr>
            <a:r>
              <a:rPr sz="825" b="1">
                <a:solidFill>
                  <a:srgbClr val="A8A2AF"/>
                </a:solidFill>
              </a:rPr>
              <a:t>AEGIS · CAPSTONE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C3AC8-6DD1-4D97-B0AB-09537B97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A2AF"/>
                </a:solidFill>
              </a:defRPr>
            </a:pPr>
            <a:r>
              <a:rPr sz="825" b="1">
                <a:solidFill>
                  <a:srgbClr val="A8A2AF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931A1-FA1F-4150-B891-E10C19FE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30343-55E2-42C2-AD8F-8B16E582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47E8"/>
                </a:solidFill>
              </a:defRPr>
            </a:pPr>
            <a:r>
              <a:rPr sz="900" b="1">
                <a:solidFill>
                  <a:srgbClr val="6847E8"/>
                </a:solidFill>
              </a:rPr>
              <a:t>TRUST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FDF8A-0291-433A-B312-B146CD81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5111E"/>
                </a:solidFill>
              </a:defRPr>
            </a:pPr>
            <a:r>
              <a:rPr sz="3525" b="1">
                <a:solidFill>
                  <a:srgbClr val="15111E"/>
                </a:solidFill>
              </a:rPr>
              <a:t>Every answer arrives with an evidence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6B03E-E642-49C2-AF7B-D5196C54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26C7A"/>
                </a:solidFill>
              </a:defRPr>
            </a:pPr>
            <a:r>
              <a:rPr sz="1575" b="0">
                <a:solidFill>
                  <a:srgbClr val="726C7A"/>
                </a:solidFill>
              </a:rPr>
              <a:t>Confidence is earned through retrieval, reranking, policy checks and citation—not model tone.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AFAD9-AD6B-4AE8-8001-EEEE0976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6847E8"/>
                </a:solidFill>
              </a:defRPr>
            </a:pPr>
            <a:r>
              <a:rPr sz="6600" b="1">
                <a:solidFill>
                  <a:srgbClr val="6847E8"/>
                </a:solidFill>
              </a:rPr>
              <a:t>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E2F14-8176-416C-95CD-357AE0B9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29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26C7A"/>
                </a:solidFill>
              </a:defRPr>
            </a:pPr>
            <a:r>
              <a:rPr sz="1425" b="0">
                <a:solidFill>
                  <a:srgbClr val="726C7A"/>
                </a:solidFill>
              </a:rPr>
              <a:t>/100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E1326-EBC6-4B83-AD99-73797E54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24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B390"/>
                </a:solidFill>
              </a:defRPr>
            </a:pPr>
            <a:r>
              <a:rPr sz="900" b="1">
                <a:solidFill>
                  <a:srgbClr val="18B390"/>
                </a:solidFill>
              </a:rPr>
              <a:t>GROUNDEDNESS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9107B-8C14-4DE4-AE63-36B67D91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76750"/>
            <a:ext cx="242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6C7A"/>
                </a:solidFill>
              </a:defRPr>
            </a:pPr>
            <a:r>
              <a:rPr sz="1350" b="0">
                <a:solidFill>
                  <a:srgbClr val="726C7A"/>
                </a:solidFill>
              </a:rPr>
              <a:t>All answer claims supported by active enterprise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4D1CD-AFD7-4747-B904-F526C4E4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EFCEC-5B26-4872-98E0-1E0DF0C5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67025"/>
            <a:ext cx="2190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80353-CE8E-49FD-99DC-6FE0E8E9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847E8"/>
                </a:solidFill>
              </a:defRPr>
            </a:pPr>
            <a:r>
              <a:rPr sz="750" b="1">
                <a:solidFill>
                  <a:srgbClr val="6847E8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B7DF4-D2C9-4947-9441-7CDACBE7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384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11E"/>
                </a:solidFill>
              </a:defRPr>
            </a:pPr>
            <a:r>
              <a:rPr sz="1350" b="1">
                <a:solidFill>
                  <a:srgbClr val="15111E"/>
                </a:solidFill>
              </a:rPr>
              <a:t>Intent classified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85EF6-44C5-4FF8-9BB2-2B178E3E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765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A2AF"/>
                </a:solidFill>
              </a:defRPr>
            </a:pPr>
            <a:r>
              <a:rPr sz="900" b="1">
                <a:solidFill>
                  <a:srgbClr val="A8A2AF"/>
                </a:solidFill>
              </a:rPr>
              <a:t>18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6484B-B8B6-4110-9895-D0E37BE8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19475"/>
            <a:ext cx="2190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07C81-6FA4-40D6-98A8-13615EF2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4805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847E8"/>
                </a:solidFill>
              </a:defRPr>
            </a:pPr>
            <a:r>
              <a:rPr sz="750" b="1">
                <a:solidFill>
                  <a:srgbClr val="6847E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5988F-09F7-4666-87F9-65968ACC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11E"/>
                </a:solidFill>
              </a:defRPr>
            </a:pPr>
            <a:r>
              <a:rPr sz="1350" b="1">
                <a:solidFill>
                  <a:srgbClr val="15111E"/>
                </a:solidFill>
              </a:rPr>
              <a:t>Hybrid 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4AD45-F1CF-4610-B67C-22C5C170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A2AF"/>
                </a:solidFill>
              </a:defRPr>
            </a:pPr>
            <a:r>
              <a:rPr sz="900" b="1">
                <a:solidFill>
                  <a:srgbClr val="A8A2AF"/>
                </a:solidFill>
              </a:rPr>
              <a:t>211 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5AF0B-061B-46A0-8598-B1B0E6E4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71925"/>
            <a:ext cx="2190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C7498-1477-4468-88FC-F6578219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005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847E8"/>
                </a:solidFill>
              </a:defRPr>
            </a:pPr>
            <a:r>
              <a:rPr sz="750" b="1">
                <a:solidFill>
                  <a:srgbClr val="6847E8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CFC6E-C934-46E6-B400-E1ACDC86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433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11E"/>
                </a:solidFill>
              </a:defRPr>
            </a:pPr>
            <a:r>
              <a:rPr sz="1350" b="1">
                <a:solidFill>
                  <a:srgbClr val="15111E"/>
                </a:solidFill>
              </a:rPr>
              <a:t>Evidence reranked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DCDF5-ECF5-4F8A-B035-846623C6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A2AF"/>
                </a:solidFill>
              </a:defRPr>
            </a:pPr>
            <a:r>
              <a:rPr sz="900" b="1">
                <a:solidFill>
                  <a:srgbClr val="A8A2AF"/>
                </a:solidFill>
              </a:rPr>
              <a:t>48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E3864-02B2-426D-9B62-24AF8066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24375"/>
            <a:ext cx="2190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53DF8F-D33E-4101-8064-03F2E770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5295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847E8"/>
                </a:solidFill>
              </a:defRPr>
            </a:pPr>
            <a:r>
              <a:rPr sz="750" b="1">
                <a:solidFill>
                  <a:srgbClr val="6847E8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2B43B-A7EF-4539-AA8F-ED7F74A7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958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11E"/>
                </a:solidFill>
              </a:defRPr>
            </a:pPr>
            <a:r>
              <a:rPr sz="1350" b="1">
                <a:solidFill>
                  <a:srgbClr val="15111E"/>
                </a:solidFill>
              </a:rPr>
              <a:t>Policy guardrails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CF4171-2C0E-497B-9D70-238C471C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3390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A2AF"/>
                </a:solidFill>
              </a:defRPr>
            </a:pPr>
            <a:r>
              <a:rPr sz="900" b="1">
                <a:solidFill>
                  <a:srgbClr val="A8A2AF"/>
                </a:solidFill>
              </a:rPr>
              <a:t>31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A900AB-5FE4-48A5-A5BB-E91990A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76825"/>
            <a:ext cx="2190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8B4E65-713A-4711-97E5-50E3A54C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054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F14A8E-39C3-4AFE-B713-07AD6A90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482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11E"/>
                </a:solidFill>
              </a:defRPr>
            </a:pPr>
            <a:r>
              <a:rPr sz="1350" b="1">
                <a:solidFill>
                  <a:srgbClr val="15111E"/>
                </a:solidFill>
              </a:rPr>
              <a:t>Answer + citations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FDCC81-C87F-418A-9A61-63B63EDC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863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A2AF"/>
                </a:solidFill>
              </a:defRPr>
            </a:pPr>
            <a:r>
              <a:rPr sz="900" b="1">
                <a:solidFill>
                  <a:srgbClr val="A8A2AF"/>
                </a:solidFill>
              </a:rPr>
              <a:t>1.34 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7E9B09-E895-46D1-948E-2640A62C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3429000" cy="255270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C6357B-C5A5-4FCF-AACB-C310B3E9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47E8"/>
                </a:solidFill>
              </a:defRPr>
            </a:pPr>
            <a:r>
              <a:rPr sz="825" b="1">
                <a:solidFill>
                  <a:srgbClr val="6847E8"/>
                </a:solidFill>
              </a:rPr>
              <a:t>PRIMARY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781D5A-C403-4EE2-8769-38D7D8B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47E8"/>
                </a:solidFill>
              </a:defRPr>
            </a:pPr>
            <a:r>
              <a:rPr sz="825" b="1">
                <a:solidFill>
                  <a:srgbClr val="6847E8"/>
                </a:solidFill>
              </a:rPr>
              <a:t>PDF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6B4DDE-537A-4195-81DC-69EFFCB7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718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11E"/>
                </a:solidFill>
              </a:defRPr>
            </a:pPr>
            <a:r>
              <a:rPr sz="1125" b="1">
                <a:solidFill>
                  <a:srgbClr val="15111E"/>
                </a:solidFill>
              </a:rPr>
              <a:t>Nova X1 Safety Manual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BCADE4-B769-456B-81B3-DDFED94F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0047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6C7A"/>
                </a:solidFill>
              </a:defRPr>
            </a:pPr>
            <a:r>
              <a:rPr sz="900" b="0">
                <a:solidFill>
                  <a:srgbClr val="726C7A"/>
                </a:solidFill>
              </a:rPr>
              <a:t>Page 12 · 94% match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F6EDE3-88EA-45DB-A138-A2B093F6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6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47E8"/>
                </a:solidFill>
              </a:defRPr>
            </a:pPr>
            <a:r>
              <a:rPr sz="825" b="1">
                <a:solidFill>
                  <a:srgbClr val="6847E8"/>
                </a:solidFill>
              </a:rPr>
              <a:t>DOC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8CE200-3A0F-41B2-8F0F-3C8E329F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11E"/>
                </a:solidFill>
              </a:defRPr>
            </a:pPr>
            <a:r>
              <a:rPr sz="1125" b="1">
                <a:solidFill>
                  <a:srgbClr val="15111E"/>
                </a:solidFill>
              </a:rPr>
              <a:t>Global Warranty Policy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24ED5B-26E5-483B-B756-D2C5ED06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6C7A"/>
                </a:solidFill>
              </a:defRPr>
            </a:pPr>
            <a:r>
              <a:rPr sz="900" b="0">
                <a:solidFill>
                  <a:srgbClr val="726C7A"/>
                </a:solidFill>
              </a:rPr>
              <a:t>Section 4.2 · 91% match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EF97FF-28E3-40EB-8891-D788DB95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8B390"/>
                </a:solidFill>
              </a:defRPr>
            </a:pPr>
            <a:r>
              <a:rPr sz="825" b="1">
                <a:solidFill>
                  <a:srgbClr val="18B390"/>
                </a:solidFill>
              </a:rPr>
              <a:t>API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C847A9-4AB6-48EE-BB4B-C1E5CF23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95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11E"/>
                </a:solidFill>
              </a:defRPr>
            </a:pPr>
            <a:r>
              <a:rPr sz="1125" b="1">
                <a:solidFill>
                  <a:srgbClr val="15111E"/>
                </a:solidFill>
              </a:rPr>
              <a:t>Order AEG-48291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5E2496-B586-4B7D-B0EF-D8D9BC9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244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26C7A"/>
                </a:solidFill>
              </a:defRPr>
            </a:pPr>
            <a:r>
              <a:rPr sz="900" b="0">
                <a:solidFill>
                  <a:srgbClr val="726C7A"/>
                </a:solidFill>
              </a:rPr>
              <a:t>Verified live · 100% match</a:t>
            </a:r>
          </a:p>
        </p:txBody>
      </p:sp>
    </p:spTree>
    <p:extLst>
      <p:ext uri="{BB962C8B-B14F-4D97-AF65-F5344CB8AC3E}">
        <p14:creationId xmlns:p14="http://schemas.microsoft.com/office/powerpoint/2010/main" val="1484220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541BD-AEC7-40E2-83F6-BAE7F59F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829E"/>
                </a:solidFill>
              </a:defRPr>
            </a:pPr>
            <a:r>
              <a:rPr sz="825" b="1">
                <a:solidFill>
                  <a:srgbClr val="8C829E"/>
                </a:solidFill>
              </a:rPr>
              <a:t>AEGIS · CAPSTONE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092F3-02A2-4317-9778-8A88B6A1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829E"/>
                </a:solidFill>
              </a:defRPr>
            </a:pPr>
            <a:r>
              <a:rPr sz="825" b="1">
                <a:solidFill>
                  <a:srgbClr val="8C829E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2D8D6-8B78-4891-9229-270E483E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A51B5-1B83-470B-8287-C1E80A99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84F4"/>
                </a:solidFill>
              </a:defRPr>
            </a:pPr>
            <a:r>
              <a:rPr sz="900" b="1">
                <a:solidFill>
                  <a:srgbClr val="9C84F4"/>
                </a:solidFill>
              </a:rPr>
              <a:t>CONTROLLED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248DB-3191-46C6-BFA4-2BB48C5F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Human control stays at the risk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8E748-F597-4A56-B40F-E7D6BC55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AFC5"/>
                </a:solidFill>
              </a:defRPr>
            </a:pPr>
            <a:r>
              <a:rPr sz="1575" b="0">
                <a:solidFill>
                  <a:srgbClr val="B8AFC5"/>
                </a:solidFill>
              </a:rPr>
              <a:t>Aegis can investigate and recommend autonomously; consequential actions still require authority.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81EE1-C543-4603-A0C1-BFC7E07E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36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128A6-17D7-42EB-8A30-DF47488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1F9BA-DEF8-4797-9AA4-BD7CA405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FBA1B-9C6B-4D66-9003-479DDC6E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C84F4"/>
                </a:solidFill>
              </a:defRPr>
            </a:pPr>
            <a:r>
              <a:rPr sz="825" b="1">
                <a:solidFill>
                  <a:srgbClr val="9C84F4"/>
                </a:solidFill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0E1E8-8D2A-4E7D-892B-28C5B20C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884AD-71A7-4110-A107-E890BD8A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AFC5"/>
                </a:solidFill>
              </a:defRPr>
            </a:pPr>
            <a:r>
              <a:rPr sz="1200" b="0">
                <a:solidFill>
                  <a:srgbClr val="B8AFC5"/>
                </a:solidFill>
              </a:rPr>
              <a:t>Identity, order and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BE187-1A21-4DB2-96D4-C62097D3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480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E64CD-B27A-4644-AAC6-0B3830D5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146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C7045-4A13-43FE-B383-26F2D5B9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67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C84F4"/>
                </a:solidFill>
              </a:defRPr>
            </a:pPr>
            <a:r>
              <a:rPr sz="825" b="1">
                <a:solidFill>
                  <a:srgbClr val="9C84F4"/>
                </a:solidFill>
              </a:rPr>
              <a:t>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A4148-DB81-4F44-8186-1B44B1E3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981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RECOMMEND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EE577-7D47-49D9-911F-E8A99948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429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AFC5"/>
                </a:solidFill>
              </a:defRPr>
            </a:pPr>
            <a:r>
              <a:rPr sz="1200" b="0">
                <a:solidFill>
                  <a:srgbClr val="B8AFC5"/>
                </a:solidFill>
              </a:rPr>
              <a:t>Priority replacement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A3845-A2A0-4AA8-AD7C-970899D3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A7732-8821-4528-B6C6-AB7AFAD1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146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3BFAD-2322-45E2-858F-D6EA43E3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67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8B390"/>
                </a:solidFill>
              </a:defRPr>
            </a:pPr>
            <a:r>
              <a:rPr sz="825" b="1">
                <a:solidFill>
                  <a:srgbClr val="18B390"/>
                </a:solidFill>
              </a:rPr>
              <a:t>HUMAN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AAA264-0C19-45AC-A891-DC85379D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81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F6F35-4C57-4E9D-8AB6-18529B66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29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AFC5"/>
                </a:solidFill>
              </a:defRPr>
            </a:pPr>
            <a:r>
              <a:rPr sz="1200" b="0">
                <a:solidFill>
                  <a:srgbClr val="B8AFC5"/>
                </a:solidFill>
              </a:rPr>
              <a:t>Explicit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229BB-4F9A-47B7-B54D-F44F83F5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480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4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F522F-04AF-4E8E-B5A7-438BFD34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146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64E7D-B22B-4462-ADE5-3DCD60CA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67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C84F4"/>
                </a:solidFill>
              </a:defRPr>
            </a:pPr>
            <a:r>
              <a:rPr sz="825" b="1">
                <a:solidFill>
                  <a:srgbClr val="9C84F4"/>
                </a:solidFill>
              </a:rPr>
              <a:t>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4E31C4-0295-4545-AA7A-CB48DAB3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981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EXECUTE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D34C9-1BF2-4155-BAA5-CC160693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429125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AFC5"/>
                </a:solidFill>
              </a:defRPr>
            </a:pPr>
            <a:r>
              <a:rPr sz="1200" b="0">
                <a:solidFill>
                  <a:srgbClr val="B8AFC5"/>
                </a:solidFill>
              </a:rPr>
              <a:t>RMA-2084 + audit trace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3135DC-A0E5-4D00-83D1-09C3AB73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52512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61F33"/>
          </a:solidFill>
          <a:ln xmlns:a="http://schemas.openxmlformats.org/drawingml/2006/main" w="9525">
            <a:solidFill>
              <a:srgbClr val="40364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BAD857-DD4B-4DAF-B04C-4DC483B0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When judgment is needed, the agent receives the verified context—not an empty ticket.</a:t>
            </a:r>
          </a:p>
        </p:txBody>
      </p:sp>
    </p:spTree>
    <p:extLst>
      <p:ext uri="{BB962C8B-B14F-4D97-AF65-F5344CB8AC3E}">
        <p14:creationId xmlns:p14="http://schemas.microsoft.com/office/powerpoint/2010/main" val="457686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2FE0A-77BA-488F-9E2A-A9CD5971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A2AF"/>
                </a:solidFill>
              </a:defRPr>
            </a:pPr>
            <a:r>
              <a:rPr sz="825" b="1">
                <a:solidFill>
                  <a:srgbClr val="A8A2AF"/>
                </a:solidFill>
              </a:rPr>
              <a:t>AEGIS · CAPSTONE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A6BE2-DE27-4C0D-AFA6-A3731D12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A2AF"/>
                </a:solidFill>
              </a:defRPr>
            </a:pPr>
            <a:r>
              <a:rPr sz="825" b="1">
                <a:solidFill>
                  <a:srgbClr val="A8A2AF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83274-6C4E-4CC8-BD2A-64F74007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C63F9-9352-4633-A4E7-4766400C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47E8"/>
                </a:solidFill>
              </a:defRPr>
            </a:pPr>
            <a:r>
              <a:rPr sz="900" b="1">
                <a:solidFill>
                  <a:srgbClr val="6847E8"/>
                </a:solidFill>
              </a:rPr>
              <a:t>DEFENSE IN DEPTH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E5F70-51F0-4708-9055-EE4E0738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5111E"/>
                </a:solidFill>
              </a:defRPr>
            </a:pPr>
            <a:r>
              <a:rPr sz="3525" b="1">
                <a:solidFill>
                  <a:srgbClr val="15111E"/>
                </a:solidFill>
              </a:rPr>
              <a:t>Security acts before the model can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A2CEE-A295-404F-B70B-81AB204D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26C7A"/>
                </a:solidFill>
              </a:defRPr>
            </a:pPr>
            <a:r>
              <a:rPr sz="1575" b="0">
                <a:solidFill>
                  <a:srgbClr val="726C7A"/>
                </a:solidFill>
              </a:rPr>
              <a:t>Aegis inspects the request, retrieved content and proposed action at three separate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90FC1-D5E7-449D-A6C3-3163D8A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47E8"/>
                </a:solidFill>
              </a:defRPr>
            </a:pPr>
            <a:r>
              <a:rPr sz="975" b="1">
                <a:solidFill>
                  <a:srgbClr val="6847E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7A91E-C9AC-40D6-8622-651D82E7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11E"/>
                </a:solidFill>
              </a:defRPr>
            </a:pPr>
            <a:r>
              <a:rPr sz="1575" b="1">
                <a:solidFill>
                  <a:srgbClr val="15111E"/>
                </a:solidFill>
              </a:rPr>
              <a:t>INPUT FIREWALL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4676A-2114-4DEB-9DB9-E6647AB0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003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6C7A"/>
                </a:solidFill>
              </a:defRPr>
            </a:pPr>
            <a:r>
              <a:rPr sz="1275" b="0">
                <a:solidFill>
                  <a:srgbClr val="726C7A"/>
                </a:solidFill>
              </a:rPr>
              <a:t>Block jailbreaks, abuse and PII exposure before orchestration.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7C510-DA6D-4AE6-8E29-327F91B1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0425"/>
            <a:ext cx="976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B0607-4295-43B2-B09F-6956107D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E5B67"/>
                </a:solidFill>
              </a:defRPr>
            </a:pPr>
            <a:r>
              <a:rPr sz="975" b="1">
                <a:solidFill>
                  <a:srgbClr val="DE5B67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E0262-F701-4C73-9E37-AA1155B0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76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11E"/>
                </a:solidFill>
              </a:defRPr>
            </a:pPr>
            <a:r>
              <a:rPr sz="1575" b="1">
                <a:solidFill>
                  <a:srgbClr val="15111E"/>
                </a:solidFill>
              </a:rPr>
              <a:t>EVIDENCE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478C1-A666-4800-B955-B0EE16EA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957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6C7A"/>
                </a:solidFill>
              </a:defRPr>
            </a:pPr>
            <a:r>
              <a:rPr sz="1275" b="0">
                <a:solidFill>
                  <a:srgbClr val="726C7A"/>
                </a:solidFill>
              </a:rPr>
              <a:t>Ignore malicious document instructions and reject unsupported claims.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6FAC5-432C-4EEC-8B8C-9E587474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95775"/>
            <a:ext cx="976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5DF33-933F-4855-AC5C-FF2D6F2E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47E8"/>
                </a:solidFill>
              </a:defRPr>
            </a:pPr>
            <a:r>
              <a:rPr sz="975" b="1">
                <a:solidFill>
                  <a:srgbClr val="6847E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3AF8F-BF50-43A8-A38D-07086173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72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11E"/>
                </a:solidFill>
              </a:defRPr>
            </a:pPr>
            <a:r>
              <a:rPr sz="1575" b="1">
                <a:solidFill>
                  <a:srgbClr val="15111E"/>
                </a:solidFill>
              </a:rPr>
              <a:t>ACTION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1E652-EFBA-4D91-B214-C3E74C65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5910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6C7A"/>
                </a:solidFill>
              </a:defRPr>
            </a:pPr>
            <a:r>
              <a:rPr sz="1275" b="0">
                <a:solidFill>
                  <a:srgbClr val="726C7A"/>
                </a:solidFill>
              </a:rPr>
              <a:t>Enforce roles, limits and approvals before external side effects.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5DA8F-C05E-4F0B-8619-14D9677D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976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B8B44-E08E-4554-A2FE-5744F874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97631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51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D8327-BDFF-40CF-9E05-FA999D31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435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F9A"/>
                </a:solidFill>
              </a:defRPr>
            </a:pPr>
            <a:r>
              <a:rPr sz="900" b="1">
                <a:solidFill>
                  <a:srgbClr val="FF8F9A"/>
                </a:solidFill>
              </a:rPr>
              <a:t>PROMPT INJECTION BLOCKED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AF4F9-719F-4E5A-BFFF-8995B283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24525"/>
            <a:ext cx="619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Request quarantined · customer data protected · audit trace retained</a:t>
            </a:r>
          </a:p>
        </p:txBody>
      </p:sp>
    </p:spTree>
    <p:extLst>
      <p:ext uri="{BB962C8B-B14F-4D97-AF65-F5344CB8AC3E}">
        <p14:creationId xmlns:p14="http://schemas.microsoft.com/office/powerpoint/2010/main" val="1978754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E57FC-CAF2-4350-B7DA-57A22D92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A2AF"/>
                </a:solidFill>
              </a:defRPr>
            </a:pPr>
            <a:r>
              <a:rPr sz="825" b="1">
                <a:solidFill>
                  <a:srgbClr val="A8A2AF"/>
                </a:solidFill>
              </a:rPr>
              <a:t>AEGIS · CAPSTONE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F21E3-3750-49A7-BC16-C367A832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A2AF"/>
                </a:solidFill>
              </a:defRPr>
            </a:pPr>
            <a:r>
              <a:rPr sz="825" b="1">
                <a:solidFill>
                  <a:srgbClr val="A8A2AF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3AB56-18EC-444B-9046-A0BAFF13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5DEAC-2B92-43D5-BB2D-FDADC55B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47E8"/>
                </a:solidFill>
              </a:defRPr>
            </a:pPr>
            <a:r>
              <a:rPr sz="900" b="1">
                <a:solidFill>
                  <a:srgbClr val="6847E8"/>
                </a:solidFill>
              </a:rPr>
              <a:t>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DB99B-8566-4843-83D0-53DFE600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5111E"/>
                </a:solidFill>
              </a:defRPr>
            </a:pPr>
            <a:r>
              <a:rPr sz="3525" b="1">
                <a:solidFill>
                  <a:srgbClr val="15111E"/>
                </a:solidFill>
              </a:rPr>
              <a:t>Prove superiority with a benchmark—not a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B8AAE-6103-476E-BEF2-415D6C85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26C7A"/>
                </a:solidFill>
              </a:defRPr>
            </a:pPr>
            <a:r>
              <a:rPr sz="1575" b="0">
                <a:solidFill>
                  <a:srgbClr val="726C7A"/>
                </a:solidFill>
              </a:rPr>
              <a:t>The selection prototype visualizes the exact test discipline the final capstone will implement.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23900" y="2800350"/>
          <a:ext xmlns:a="http://schemas.openxmlformats.org/drawingml/2006/main" cx="781050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eca3081e6c4fb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973F6-E77C-46A5-AD1D-C768519E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813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6847E8"/>
                </a:solidFill>
              </a:defRPr>
            </a:pPr>
            <a:r>
              <a:rPr sz="4050" b="1">
                <a:solidFill>
                  <a:srgbClr val="6847E8"/>
                </a:solidFill>
              </a:rPr>
              <a:t>96.8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B78AA-BDF7-4BFC-9200-9A8728B6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52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B390"/>
                </a:solidFill>
              </a:defRPr>
            </a:pPr>
            <a:r>
              <a:rPr sz="900" b="1">
                <a:solidFill>
                  <a:srgbClr val="18B390"/>
                </a:solidFill>
              </a:rPr>
              <a:t>OVERALL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4DA0A-90D9-4959-8D17-A0930F33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CAAEF-3F66-441F-BF01-0C773520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57700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111E"/>
                </a:solidFill>
              </a:defRPr>
            </a:pPr>
            <a:r>
              <a:rPr sz="2025" b="1">
                <a:solidFill>
                  <a:srgbClr val="15111E"/>
                </a:solidFill>
              </a:rPr>
              <a:t>150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7740B-43B3-4732-ADCC-1C6EBFCD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24375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26C7A"/>
                </a:solidFill>
              </a:defRPr>
            </a:pPr>
            <a:r>
              <a:rPr sz="1125" b="0">
                <a:solidFill>
                  <a:srgbClr val="726C7A"/>
                </a:solidFill>
              </a:rPr>
              <a:t>curated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4BD56-9D46-4865-9CBE-D7504288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48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726C7A"/>
                </a:solidFill>
              </a:defRPr>
            </a:pPr>
            <a:r>
              <a:rPr sz="900" b="0" i="1">
                <a:solidFill>
                  <a:srgbClr val="726C7A"/>
                </a:solidFill>
              </a:rPr>
              <a:t>Illustrative prototype benchmark. Final capstone results will be generated from a reviewed evaluation dataset.</a:t>
            </a:r>
          </a:p>
        </p:txBody>
      </p:sp>
    </p:spTree>
    <p:extLst>
      <p:ext uri="{BB962C8B-B14F-4D97-AF65-F5344CB8AC3E}">
        <p14:creationId xmlns:p14="http://schemas.microsoft.com/office/powerpoint/2010/main" val="174915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198A3-3CE0-490E-8DF1-53FC2F4C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C829E"/>
                </a:solidFill>
              </a:defRPr>
            </a:pPr>
            <a:r>
              <a:rPr sz="825" b="1">
                <a:solidFill>
                  <a:srgbClr val="8C829E"/>
                </a:solidFill>
              </a:rPr>
              <a:t>AEGIS · CAPSTONE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9675A-CB7E-40C8-81AD-C4EAA917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829E"/>
                </a:solidFill>
              </a:defRPr>
            </a:pPr>
            <a:r>
              <a:rPr sz="825" b="1">
                <a:solidFill>
                  <a:srgbClr val="8C829E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1E75E-57FA-4769-9BA3-474BB8E8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B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70D69-714A-438F-8DA2-6A56E580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84F4"/>
                </a:solidFill>
              </a:defRPr>
            </a:pPr>
            <a:r>
              <a:rPr sz="900" b="1">
                <a:solidFill>
                  <a:srgbClr val="9C84F4"/>
                </a:solidFill>
              </a:rPr>
              <a:t>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92D32-4A70-46A4-B276-1B55BDED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Four weeks turns this build into a complete capstone.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D67DF-5F44-4B22-B92F-4E58BE2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AFC5"/>
                </a:solidFill>
              </a:defRPr>
            </a:pPr>
            <a:r>
              <a:rPr sz="1575" b="0">
                <a:solidFill>
                  <a:srgbClr val="B8AFC5"/>
                </a:solidFill>
              </a:rPr>
              <a:t>The product story is proven; the next milestone is replacing every simulation with measured, deployable intelligence.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46934-AA9E-4AE0-84C7-87B4C607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84F4"/>
                </a:solidFill>
              </a:defRPr>
            </a:pPr>
            <a:r>
              <a:rPr sz="900" b="1">
                <a:solidFill>
                  <a:srgbClr val="9C84F4"/>
                </a:solidFill>
              </a:rPr>
              <a:t>WEEK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E3732-31CB-47A6-BDAE-790FFC45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ED84C-C873-4198-94FD-DF2056E2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5D3E8-AF0F-48A6-985B-AD559482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B0C4"/>
                </a:solidFill>
              </a:defRPr>
            </a:pPr>
            <a:r>
              <a:rPr sz="1200" b="0">
                <a:solidFill>
                  <a:srgbClr val="B9B0C4"/>
                </a:solidFill>
              </a:rPr>
              <a:t>FastAPI · identity · document ingestion · baseline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37644-BBCE-4F7E-B4CE-8B394C79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84F4"/>
                </a:solidFill>
              </a:defRPr>
            </a:pPr>
            <a:r>
              <a:rPr sz="900" b="1">
                <a:solidFill>
                  <a:srgbClr val="9C84F4"/>
                </a:solidFill>
              </a:rPr>
              <a:t>WEEK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78340-A1B0-4D5F-9782-B92B948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81FB6-97D6-40C0-8D27-4999B1EE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671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ACADB-01E3-4E57-8175-B15C8A9B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62425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B0C4"/>
                </a:solidFill>
              </a:defRPr>
            </a:pPr>
            <a:r>
              <a:rPr sz="1200" b="0">
                <a:solidFill>
                  <a:srgbClr val="B9B0C4"/>
                </a:solidFill>
              </a:rPr>
              <a:t>Hybrid retrieval · reranking · citations · multilingual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BA2A9-E70F-4E78-B21A-78EFE049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84F4"/>
                </a:solidFill>
              </a:defRPr>
            </a:pPr>
            <a:r>
              <a:rPr sz="900" b="1">
                <a:solidFill>
                  <a:srgbClr val="9C84F4"/>
                </a:solidFill>
              </a:rPr>
              <a:t>WEEK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48262-AEA8-4E1D-8EEF-F3A391ED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D1802-5A60-4AD2-8E98-8E8B8FB1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43917-F9C3-41B5-9894-658BEB56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62425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B0C4"/>
                </a:solidFill>
              </a:defRPr>
            </a:pPr>
            <a:r>
              <a:rPr sz="1200" b="0">
                <a:solidFill>
                  <a:srgbClr val="B9B0C4"/>
                </a:solidFill>
              </a:rPr>
              <a:t>Agent tools · approvals · security · human 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19A9D-655C-4EDD-906C-D8D0F706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B390"/>
                </a:solidFill>
              </a:defRPr>
            </a:pPr>
            <a:r>
              <a:rPr sz="900" b="1">
                <a:solidFill>
                  <a:srgbClr val="18B390"/>
                </a:solidFill>
              </a:rPr>
              <a:t>WEEK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2714C-D32B-4F77-BBA1-5DD710B7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5F61A-30E3-4C30-9A73-2FC28B33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BF674-FD91-4BCC-A497-62FA96E3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62425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B0C4"/>
                </a:solidFill>
              </a:defRPr>
            </a:pPr>
            <a:r>
              <a:rPr sz="1200" b="0">
                <a:solidFill>
                  <a:srgbClr val="B9B0C4"/>
                </a:solidFill>
              </a:rPr>
              <a:t>150-case benchmark · load tests · deployment · final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B876E-4914-4EDC-AD08-090BB120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Selection-ready tonight.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F2B6C-CD96-421B-AA0E-29C99C49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245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C84F4"/>
                </a:solidFill>
              </a:defRPr>
            </a:pPr>
            <a:r>
              <a:rPr sz="2325" b="1">
                <a:solidFill>
                  <a:srgbClr val="9C84F4"/>
                </a:solidFill>
              </a:rPr>
              <a:t>Production-evaluated in four weeks.</a:t>
            </a:r>
          </a:p>
        </p:txBody>
      </p:sp>
    </p:spTree>
    <p:extLst>
      <p:ext uri="{BB962C8B-B14F-4D97-AF65-F5344CB8AC3E}">
        <p14:creationId xmlns:p14="http://schemas.microsoft.com/office/powerpoint/2010/main" val="15691566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04AA6-DE97-4DE6-9E23-8B75908A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47E8"/>
                </a:solidFill>
              </a:defRPr>
            </a:pPr>
            <a:r>
              <a:rPr sz="1350" b="1">
                <a:solidFill>
                  <a:srgbClr val="6847E8"/>
                </a:solidFill>
              </a:rPr>
              <a:t>AEGIS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69907-F642-4A82-A108-1E15A419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52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5111E"/>
                </a:solidFill>
              </a:defRPr>
            </a:pPr>
            <a:r>
              <a:rPr sz="5025" b="1">
                <a:solidFill>
                  <a:srgbClr val="15111E"/>
                </a:solidFill>
              </a:rPr>
              <a:t>We are ready to show,</a:t>
            </a:r>
          </a:p>
          <a:p xmlns:a="http://schemas.openxmlformats.org/drawingml/2006/main">
            <a:pPr algn="l">
              <a:defRPr sz="5025" b="1">
                <a:solidFill>
                  <a:srgbClr val="15111E"/>
                </a:solidFill>
              </a:defRPr>
            </a:pPr>
            <a:r>
              <a:rPr sz="5025" b="1">
                <a:solidFill>
                  <a:srgbClr val="15111E"/>
                </a:solidFill>
              </a:rPr>
              <a:t>not just promise.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74B88-9DF2-4596-8B7B-4A9E7AB7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709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6C7A"/>
                </a:solidFill>
              </a:defRPr>
            </a:pPr>
            <a:r>
              <a:rPr sz="1725" b="0">
                <a:solidFill>
                  <a:srgbClr val="726C7A"/>
                </a:solidFill>
              </a:rPr>
              <a:t>Give us the project. We will build the evidence-grounded, action-capable support system—and measure whether it deserves your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BCC99-B872-4E69-9061-1D595335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700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4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39DA2-B0ED-49C0-BF07-8660236D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47E8"/>
                </a:solidFill>
              </a:defRPr>
            </a:pPr>
            <a:r>
              <a:rPr sz="975" b="1">
                <a:solidFill>
                  <a:srgbClr val="6847E8"/>
                </a:solidFill>
              </a:rPr>
              <a:t>LIVE PRODUCT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92F19-4DB0-42A8-91BB-10034881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076325"/>
            <a:ext cx="2305050" cy="4095750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151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3635B-3F7D-4376-A255-1DE13CC2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764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RESOLVE.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D7435-1BF5-4FEF-B274-E99147B7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146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C84F4"/>
                </a:solidFill>
              </a:defRPr>
            </a:pPr>
            <a:r>
              <a:rPr sz="2100" b="1">
                <a:solidFill>
                  <a:srgbClr val="9C84F4"/>
                </a:solidFill>
              </a:rPr>
              <a:t>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3D4B0-8CD8-48FE-9880-B8958E5E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5280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B390"/>
                </a:solidFill>
              </a:defRPr>
            </a:pPr>
            <a:r>
              <a:rPr sz="2100" b="1">
                <a:solidFill>
                  <a:srgbClr val="18B390"/>
                </a:solidFill>
              </a:rPr>
              <a:t>EARN</a:t>
            </a:r>
          </a:p>
          <a:p xmlns:a="http://schemas.openxmlformats.org/drawingml/2006/main">
            <a:pPr algn="l">
              <a:defRPr sz="2100" b="1">
                <a:solidFill>
                  <a:srgbClr val="18B390"/>
                </a:solidFill>
              </a:defRPr>
            </a:pPr>
            <a:r>
              <a:rPr sz="2100" b="1">
                <a:solidFill>
                  <a:srgbClr val="18B390"/>
                </a:solidFill>
              </a:rPr>
              <a:t>TRUST.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79371-D066-49C7-88A6-C623F46D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778E"/>
                </a:solidFill>
              </a:defRPr>
            </a:pPr>
            <a:r>
              <a:rPr sz="825" b="1">
                <a:solidFill>
                  <a:srgbClr val="82778E"/>
                </a:solidFill>
              </a:rPr>
              <a:t>AEGIS · 2026</a:t>
            </a:r>
          </a:p>
        </p:txBody>
      </p:sp>
    </p:spTree>
    <p:extLst>
      <p:ext uri="{BB962C8B-B14F-4D97-AF65-F5344CB8AC3E}">
        <p14:creationId xmlns:p14="http://schemas.microsoft.com/office/powerpoint/2010/main" val="981087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2026-08-05T18:04:16.4000000Z</dcterms:created>
  <dcterms:modified xsi:type="dcterms:W3CDTF">2026-08-05T18:04:16.4000000Z</dcterms:modified>
</coreProperties>
</file>